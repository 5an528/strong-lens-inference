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Abell 370: every stretched arc in this Hubble image is a background galaxy distorted by the cluster's gravity — the phenomenon this project inverts.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physics: lensing is a direct, model-able consequence of GR. The image is a fingerprint of the lens mass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real morphologies our simulator has to cover: full rings, partial arcs, and multiple point-like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idea of SBI: replace likelihood evaluation with simulation. The priors define the training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configurable lives in src/config.py. Dataset generation is parallelized across CPU cores; only training needs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4 config. Early runs (8k images, low SNR) overfit after epoch ~20; scaling the dataset removed it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4, 8-parameter model. Each dot is one test lens; dashed line = perfect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 band = 99% expectation under uniformity. Flat within band = trustworthy uncertainties.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panel: the noisy observation. Right: four independent posterior draws re-simulated.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assignment's key comparison: the degeneracy is specific to the (κ, θE) pair, exactly as the lensing equations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scale argument: upcoming surveys make per-lens MCMC impossible; amortized SBI is built for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 and pointers to the repo, report and results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u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0174"/>
            <a:ext cx="12191695" cy="13572785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400"/>
              </a:spcAft>
              <a:buNone/>
            </a:pPr>
            <a:r>
              <a:rPr sz="1300" b="1" i="0" spc="300">
                <a:solidFill>
                  <a:srgbClr val="57C7FF"/>
                </a:solidFill>
                <a:latin typeface="Segoe UI"/>
              </a:rPr>
              <a:t>SIMULATION-BASED INFERENCE  •  BAYESFLOW  •  LENSTRONOMY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Segoe UI"/>
              </a:rPr>
              <a:t>Inferring Strong Gravitational Lens
Parameters from Images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EAEEF7"/>
                </a:solidFill>
                <a:latin typeface="Segoe UI"/>
              </a:rPr>
              <a:t>Recovering the physics of an SIE lens — Einstein radius, ellipticity, shear, source — from a single noisy telescope image, with full posteriors in milliseconds.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Sayed Atique Newaz   ·   Noureen Alam Meem   ·   Mashuk Khan</a:t>
            </a:r>
          </a:p>
          <a:p>
            <a:pPr algn="l">
              <a:lnSpc>
                <a:spcPct val="106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9AA5BE"/>
                </a:solidFill>
                <a:latin typeface="Segoe UI"/>
              </a:rPr>
              <a:t>University project —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2415" y="651052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900" b="0" i="1">
                <a:solidFill>
                  <a:srgbClr val="9AA5BE"/>
                </a:solidFill>
                <a:latin typeface="Segoe UI"/>
              </a:rPr>
              <a:t>Background: galaxy cluster Abell 370 — NASA, ESA/Hubble Frontier Fields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THE PHYSICS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Gravity's magnifying glass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59436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marL="205740" indent="-205740">
              <a:lnSpc>
                <a:spcPct val="114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700" b="0" i="0">
                <a:solidFill>
                  <a:srgbClr val="EAEEF7"/>
                </a:solidFill>
                <a:latin typeface="Segoe UI"/>
              </a:rPr>
              <a:t>A massive foreground galaxy warps spacetime; light from a distant background galaxy bends around it </a:t>
            </a:r>
            <a:r>
              <a:rPr sz="1700" b="0" i="1">
                <a:solidFill>
                  <a:srgbClr val="9AA5BE"/>
                </a:solidFill>
                <a:latin typeface="Segoe UI"/>
              </a:rPr>
              <a:t>(general relativity)</a:t>
            </a:r>
            <a:r>
              <a:rPr sz="170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14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700" b="0" i="0">
                <a:solidFill>
                  <a:srgbClr val="EAEEF7"/>
                </a:solidFill>
                <a:latin typeface="Segoe UI"/>
              </a:rPr>
              <a:t>Alignment decides the picture: a small offset gives </a:t>
            </a:r>
            <a:r>
              <a:rPr sz="1700" b="1" i="0">
                <a:solidFill>
                  <a:srgbClr val="FFB347"/>
                </a:solidFill>
                <a:latin typeface="Segoe UI"/>
              </a:rPr>
              <a:t>multiple images and arcs</a:t>
            </a:r>
            <a:r>
              <a:rPr sz="1700" b="0" i="0">
                <a:solidFill>
                  <a:srgbClr val="EAEEF7"/>
                </a:solidFill>
                <a:latin typeface="Segoe UI"/>
              </a:rPr>
              <a:t>; near-perfect alignment gives a complete </a:t>
            </a:r>
            <a:r>
              <a:rPr sz="1700" b="1" i="0">
                <a:solidFill>
                  <a:srgbClr val="FFB347"/>
                </a:solidFill>
                <a:latin typeface="Segoe UI"/>
              </a:rPr>
              <a:t>Einstein ring</a:t>
            </a:r>
            <a:r>
              <a:rPr sz="170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14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700" b="0" i="0">
                <a:solidFill>
                  <a:srgbClr val="EAEEF7"/>
                </a:solidFill>
                <a:latin typeface="Segoe UI"/>
              </a:rPr>
              <a:t>The distortion encodes the lens: ring radius ↔ enclosed mass, arc shapes ↔ ellipticity and tidal shear.</a:t>
            </a:r>
          </a:p>
          <a:p>
            <a:pPr algn="l" marL="205740" indent="-205740">
              <a:lnSpc>
                <a:spcPct val="114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700" b="0" i="0">
                <a:solidFill>
                  <a:srgbClr val="EAEEF7"/>
                </a:solidFill>
                <a:latin typeface="Segoe UI"/>
              </a:rPr>
              <a:t>Our task is the </a:t>
            </a:r>
            <a:r>
              <a:rPr sz="1700" b="1" i="0">
                <a:solidFill>
                  <a:srgbClr val="57C7FF"/>
                </a:solidFill>
                <a:latin typeface="Segoe UI"/>
              </a:rPr>
              <a:t>inverse problem</a:t>
            </a:r>
            <a:r>
              <a:rPr sz="1700" b="0" i="0">
                <a:solidFill>
                  <a:srgbClr val="EAEEF7"/>
                </a:solidFill>
                <a:latin typeface="Segoe UI"/>
              </a:rPr>
              <a:t>: given one noisy image, recover the physical parameters that produced it.</a:t>
            </a:r>
          </a:p>
        </p:txBody>
      </p:sp>
      <p:pic>
        <p:nvPicPr>
          <p:cNvPr id="5" name="Picture 4" descr="horsesho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59031"/>
            <a:ext cx="4846320" cy="385433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6858000" y="6035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1050" b="0" i="1">
                <a:solidFill>
                  <a:srgbClr val="9AA5BE"/>
                </a:solidFill>
                <a:latin typeface="Segoe UI"/>
              </a:rPr>
              <a:t>The Cosmic Horseshoe (LRG 3-757): a blue background galaxy smeared into a near-complete Einstein ring — ESA/Hubble &amp; NASA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SEEN BY HUBBLE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The Universe runs this experiment for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orsesho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0252"/>
            <a:ext cx="3657600" cy="2908935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66928" y="52578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Cosmic Horseshoe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9AA5BE"/>
                </a:solidFill>
                <a:latin typeface="Segoe UI"/>
              </a:rPr>
              <a:t>Near-complete Einstein ring around a luminous red galaxy.</a:t>
            </a:r>
          </a:p>
        </p:txBody>
      </p:sp>
      <p:pic>
        <p:nvPicPr>
          <p:cNvPr id="6" name="Picture 5" descr="smil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150" y="1828800"/>
            <a:ext cx="3336148" cy="329184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4535424" y="52578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SDSS J1038+4849</a:t>
            </a:r>
          </a:p>
          <a:p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9AA5BE"/>
                </a:solidFill>
                <a:latin typeface="Segoe UI"/>
              </a:rPr>
              <a:t>A galaxy-group lens: ring arcs make the famous “smiley face”.</a:t>
            </a:r>
          </a:p>
        </p:txBody>
      </p:sp>
      <p:pic>
        <p:nvPicPr>
          <p:cNvPr id="8" name="Picture 7" descr="lensed_s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81701"/>
            <a:ext cx="3657600" cy="2586037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8503920" y="52578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Supernova iPTF16geu</a:t>
            </a:r>
          </a:p>
          <a:p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9AA5BE"/>
                </a:solidFill>
                <a:latin typeface="Segoe UI"/>
              </a:rPr>
              <a:t>One supernova, four images — quadruply lensed by a foreground galaxy.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  <a:buNone/>
            </a:pPr>
            <a:r>
              <a:rPr sz="900" b="0" i="1">
                <a:solidFill>
                  <a:srgbClr val="9AA5BE"/>
                </a:solidFill>
                <a:latin typeface="Segoe UI"/>
              </a:rPr>
              <a:t>Image credits: NASA, ESA/Hubble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An intractable likelihood — and how SBI sidesteps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The forward direction is easy: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lenstronomy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simulates the image for any parameter vector θ.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The reverse is not: PSF blur, pixel noise and parameter degeneracies make the likelihood </a:t>
            </a:r>
            <a:r>
              <a:rPr sz="1650" b="1" i="0">
                <a:solidFill>
                  <a:srgbClr val="FFB347"/>
                </a:solidFill>
                <a:latin typeface="Segoe UI"/>
              </a:rPr>
              <a:t>p(image | θ) intractable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Classical MCMC fits one system at a time — hours per lens, and it needs that likelihood.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1" i="0">
                <a:solidFill>
                  <a:srgbClr val="57C7FF"/>
                </a:solidFill>
                <a:latin typeface="Segoe UI"/>
              </a:rPr>
              <a:t>BayesFlow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(neural posterior estimation): train a network on simulated (θ, image) pairs once, then get the full posterior for </a:t>
            </a:r>
            <a:r>
              <a:rPr sz="1650" b="0" i="1">
                <a:solidFill>
                  <a:srgbClr val="EAEEF7"/>
                </a:solidFill>
                <a:latin typeface="Segoe UI"/>
              </a:rPr>
              <a:t>any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new image in milliseconds — </a:t>
            </a:r>
            <a:r>
              <a:rPr sz="1650" b="1" i="0">
                <a:solidFill>
                  <a:srgbClr val="57C7FF"/>
                </a:solidFill>
                <a:latin typeface="Segoe UI"/>
              </a:rPr>
              <a:t>amortized inference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1874519"/>
          <a:ext cx="507492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2057400"/>
                <a:gridCol w="2057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57C7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91440" marR="91440" marT="27432" marB="27432" anchor="ctr">
                    <a:solidFill>
                      <a:srgbClr val="1B24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57C7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91440" marR="91440" marT="27432" marB="27432" anchor="ctr">
                    <a:solidFill>
                      <a:srgbClr val="1B24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57C7FF"/>
                          </a:solidFill>
                          <a:latin typeface="Segoe UI"/>
                        </a:rPr>
                        <a:t>Prior</a:t>
                      </a:r>
                    </a:p>
                  </a:txBody>
                  <a:tcPr marL="91440" marR="91440" marT="27432" marB="27432" anchor="ctr">
                    <a:solidFill>
                      <a:srgbClr val="1B24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B347"/>
                          </a:solidFill>
                          <a:latin typeface="Segoe UI"/>
                        </a:rPr>
                        <a:t>θE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Einstein radius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U(0.7, 1.6)″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B347"/>
                          </a:solidFill>
                          <a:latin typeface="Segoe UI"/>
                        </a:rPr>
                        <a:t>e1, e2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Lens ellipticity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q ∈ (0.6, 1.0), φ ∈ (0, π)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B347"/>
                          </a:solidFill>
                          <a:latin typeface="Segoe UI"/>
                        </a:rPr>
                        <a:t>γ1, γ2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External shear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γ ∈ (0, 0.08), φ ∈ (0, π)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B347"/>
                          </a:solidFill>
                          <a:latin typeface="Segoe UI"/>
                        </a:rPr>
                        <a:t>xs, ys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Source position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U(−0.3, 0.3)″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B347"/>
                          </a:solidFill>
                          <a:latin typeface="Segoe UI"/>
                        </a:rPr>
                        <a:t>Rs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Source half-light radius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U(0.05, 0.25)″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B347"/>
                          </a:solidFill>
                          <a:latin typeface="Segoe UI"/>
                        </a:rPr>
                        <a:t>κ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External convergence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AEEF7"/>
                          </a:solidFill>
                          <a:latin typeface="Segoe UI"/>
                        </a:rPr>
                        <a:t>U(0, 0.2) — optional 9th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5897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1050" b="0" i="1">
                <a:solidFill>
                  <a:srgbClr val="9AA5BE"/>
                </a:solidFill>
                <a:latin typeface="Segoe UI"/>
              </a:rPr>
              <a:t>θ: the 8 (or 9, with κ) numbers the network must infer from one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METHOD — STEP 1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Simulating realistic lenses with lenstronomy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Lens model: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singular isothermal ellipsoid (SIE)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+ external shear + optional convergence sheet κ.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Source: elliptical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Sérsic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profile, ray-traced through the lens equation.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Instrument: 64×64 px at 0.05″/px (3.2″ field), Gaussian PSF, FWHM 0.1″.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Noise: Gaussian background (rms 0.1) + Poisson shot noise (100 s exposure).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Source amplitude tuned in a sweep → peak </a:t>
            </a:r>
            <a:r>
              <a:rPr sz="1650" b="1" i="0">
                <a:solidFill>
                  <a:srgbClr val="FFB347"/>
                </a:solidFill>
                <a:latin typeface="Segoe UI"/>
              </a:rPr>
              <a:t>SNR median ≈ 16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(assignment target 10–30 ✓).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5624" y="2104116"/>
            <a:ext cx="5742432" cy="2649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_single_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86412"/>
            <a:ext cx="5577840" cy="2485176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6217920" y="50292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1050" b="0" i="1">
                <a:solidFill>
                  <a:srgbClr val="9AA5BE"/>
                </a:solidFill>
                <a:latin typeface="Segoe UI"/>
              </a:rPr>
              <a:t>One simulated system: noise-free lensed arcs (left) and the observed image the network actually sees (right)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METHOD — STEP 2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Training BayesFlow on 50,000 simulated lenses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5778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Dataset: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50,000 train / 2,000 val / 300 test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image–parameter pairs, precomputed offline.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Summary network: small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CNN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compresses each image to a 48-dim learned summary.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Inference network: conditional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coupling flow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(depth 4) maps summaries to the joint posterior over θ.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40 epochs, batch 32, Adam 10⁻³, early stopping.  </a:t>
            </a:r>
            <a:r>
              <a:rPr sz="1650" b="1" i="0">
                <a:solidFill>
                  <a:srgbClr val="FFB347"/>
                </a:solidFill>
                <a:latin typeface="Segoe UI"/>
              </a:rPr>
              <a:t>RTX 3060 GPU: ~2 h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at 118 ms/step — vs ~500 ms/step on CPU.</a:t>
            </a:r>
          </a:p>
          <a:p>
            <a:pPr algn="l" marL="205740" indent="-205740">
              <a:lnSpc>
                <a:spcPct val="114000"/>
              </a:lnSpc>
              <a:spcAft>
                <a:spcPts val="15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Validation loss stays </a:t>
            </a:r>
            <a:r>
              <a:rPr sz="1650" b="0" i="1">
                <a:solidFill>
                  <a:srgbClr val="EAEEF7"/>
                </a:solidFill>
                <a:latin typeface="Segoe UI"/>
              </a:rPr>
              <a:t>below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training loss for all 40 epochs → </a:t>
            </a:r>
            <a:r>
              <a:rPr sz="1650" b="1" i="0">
                <a:solidFill>
                  <a:srgbClr val="57C7FF"/>
                </a:solidFill>
                <a:latin typeface="Segoe UI"/>
              </a:rPr>
              <a:t>no overfitting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(early stopping armed but never needed).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18504" y="1990344"/>
            <a:ext cx="5468112" cy="37002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14600"/>
            <a:ext cx="5303520" cy="265176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1050" b="0" i="1">
                <a:solidFill>
                  <a:srgbClr val="9AA5BE"/>
                </a:solidFill>
                <a:latin typeface="Segoe UI"/>
              </a:rPr>
              <a:t>Negative log-posterior loss: best val −8.05 at the final epoch (20k run: −5.87)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RESULTS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Near-perfect parameter recovery at realistic SNR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3494" y="1655064"/>
            <a:ext cx="5993892" cy="4828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620060"/>
            <a:ext cx="5829300" cy="2898039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6903720" y="182880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EAEEF7"/>
                </a:solidFill>
                <a:latin typeface="Segoe UI"/>
              </a:rPr>
              <a:t>R² — posterior mean vs truth, 300 unseen test systems:</a:t>
            </a:r>
          </a:p>
          <a:p>
            <a:pPr algn="l" marL="205740" indent="-205740">
              <a:lnSpc>
                <a:spcPct val="106000"/>
              </a:lnSpc>
              <a:spcAft>
                <a:spcPts val="900"/>
              </a:spcAft>
              <a:buClr>
                <a:srgbClr val="57C7FF"/>
              </a:buClr>
              <a:buFont typeface="Arial"/>
              <a:buChar char="▸"/>
            </a:pPr>
            <a:r>
              <a:rPr sz="1650" b="1" i="0">
                <a:solidFill>
                  <a:srgbClr val="FFB347"/>
                </a:solidFill>
                <a:latin typeface="Segoe UI"/>
              </a:rPr>
              <a:t>θE, Rs = 1.00</a:t>
            </a:r>
            <a:r>
              <a:rPr sz="1650" b="1" i="0">
                <a:solidFill>
                  <a:srgbClr val="FFB347"/>
                </a:solidFill>
                <a:latin typeface="Segoe UI"/>
              </a:rPr>
              <a:t>   xs, ys = 1.00</a:t>
            </a:r>
          </a:p>
          <a:p>
            <a:pPr algn="l" marL="205740" indent="-205740">
              <a:lnSpc>
                <a:spcPct val="106000"/>
              </a:lnSpc>
              <a:spcAft>
                <a:spcPts val="900"/>
              </a:spcAft>
              <a:buClr>
                <a:srgbClr val="57C7FF"/>
              </a:buClr>
              <a:buFont typeface="Arial"/>
              <a:buChar char="▸"/>
            </a:pPr>
            <a:r>
              <a:rPr sz="1650" b="1" i="0">
                <a:solidFill>
                  <a:srgbClr val="EAEEF7"/>
                </a:solidFill>
                <a:latin typeface="Segoe UI"/>
              </a:rPr>
              <a:t>e1 = 0.94,  e2 = 0.92</a:t>
            </a:r>
          </a:p>
          <a:p>
            <a:pPr algn="l" marL="205740" indent="-205740">
              <a:lnSpc>
                <a:spcPct val="106000"/>
              </a:lnSpc>
              <a:spcAft>
                <a:spcPts val="900"/>
              </a:spcAft>
              <a:buClr>
                <a:srgbClr val="57C7FF"/>
              </a:buClr>
              <a:buFont typeface="Arial"/>
              <a:buChar char="▸"/>
            </a:pPr>
            <a:r>
              <a:rPr sz="1650" b="1" i="0">
                <a:solidFill>
                  <a:srgbClr val="EAEEF7"/>
                </a:solidFill>
                <a:latin typeface="Segoe UI"/>
              </a:rPr>
              <a:t>γ1 = 0.86,  γ2 = 0.80</a:t>
            </a:r>
            <a:r>
              <a:rPr sz="1300" b="0" i="0">
                <a:solidFill>
                  <a:srgbClr val="9AA5BE"/>
                </a:solidFill>
                <a:latin typeface="Segoe UI"/>
              </a:rPr>
              <a:t>  (shear is intrinsically subtle)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buNone/>
            </a:pPr>
            <a:r>
              <a:rPr sz="1450" b="0" i="0">
                <a:solidFill>
                  <a:srgbClr val="9AA5BE"/>
                </a:solidFill>
                <a:latin typeface="Segoe UI"/>
              </a:rPr>
              <a:t>Image quality is everything: at the uncorrected low SNR (median 3.7), the same pipeline managed only γ1 = 0.21 and γ2 = 0.06 — fixing the SNR to spec unlocked every parameter.</a:t>
            </a:r>
          </a:p>
          <a:p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450" b="0" i="1">
                <a:solidFill>
                  <a:srgbClr val="EAEEF7"/>
                </a:solidFill>
                <a:latin typeface="Segoe UI"/>
              </a:rPr>
              <a:t>Error bars shrink where the data are informative and stay wide where they are not — exactly what a posterior should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RESULTS — UNCERTAINTY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Are the error bars honest? Simulation-based calibration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49377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15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SBC test: rank the true θ within its own posterior samples — over many systems the ranks must be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uniform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15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e1, e2, γ1, γ2: rank ECDF inside the 95% band → </a:t>
            </a:r>
            <a:r>
              <a:rPr sz="1650" b="1" i="0">
                <a:solidFill>
                  <a:srgbClr val="57C7FF"/>
                </a:solidFill>
                <a:latin typeface="Segoe UI"/>
              </a:rPr>
              <a:t>well calibrated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15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θE, xs, ys, Rs: central S-shape → mildly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underconfident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— error bars a touch wide, the safe direction to err.</a:t>
            </a:r>
          </a:p>
          <a:p>
            <a:pPr algn="l" marL="205740" indent="-205740">
              <a:lnSpc>
                <a:spcPct val="115000"/>
              </a:lnSpc>
              <a:spcAft>
                <a:spcPts val="16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Identical at 20k and 50k samples → a network-capacity effect, not a data-volume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4144" y="1735074"/>
            <a:ext cx="6108192" cy="46222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68788"/>
            <a:ext cx="5943600" cy="2954863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  <p:transition spd="med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RESULTS — CLOSING THE LOOP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Posterior predictive: re-simulate what the network believes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4632" y="2103120"/>
            <a:ext cx="11228832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terior_predi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85416"/>
            <a:ext cx="11064240" cy="221284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66928" y="489204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15000"/>
              </a:lnSpc>
              <a:spcAft>
                <a:spcPts val="10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Draw θ from the posterior of one observed image, push each draw back through the simulator, and compare.</a:t>
            </a:r>
          </a:p>
          <a:p>
            <a:pPr algn="l" marL="205740" indent="-205740">
              <a:lnSpc>
                <a:spcPct val="115000"/>
              </a:lnSpc>
              <a:spcAft>
                <a:spcPts val="10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Ring radius, all three bright knots and the azimuthal light profile are reproduced; draws differ mainly in knot brightness — the part the noise genuinely hides.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THE PHYSICS TEST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The mass-sheet degeneracy, rediscovered by the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15000"/>
              </a:lnSpc>
              <a:spcAft>
                <a:spcPts val="14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Theory: adding a uniform convergence sheet κ (with rescaling) leaves the image almost unchanged — κ </a:t>
            </a:r>
            <a:r>
              <a:rPr sz="1650" b="1" i="0">
                <a:solidFill>
                  <a:srgbClr val="EAEEF7"/>
                </a:solidFill>
                <a:latin typeface="Segoe UI"/>
              </a:rPr>
              <a:t>cannot be measured from one image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15000"/>
              </a:lnSpc>
              <a:spcAft>
                <a:spcPts val="14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The trained network agrees: κ posterior ≈ prior (contraction +0.16, R² = 0.21).</a:t>
            </a:r>
          </a:p>
          <a:p>
            <a:pPr algn="l" marL="205740" indent="-205740">
              <a:lnSpc>
                <a:spcPct val="115000"/>
              </a:lnSpc>
              <a:spcAft>
                <a:spcPts val="1400"/>
              </a:spcAft>
              <a:buClr>
                <a:srgbClr val="57C7FF"/>
              </a:buClr>
              <a:buFont typeface="Arial"/>
              <a:buChar char="▸"/>
            </a:pPr>
            <a:r>
              <a:rPr sz="1650" b="1" i="0">
                <a:solidFill>
                  <a:srgbClr val="FFB347"/>
                </a:solidFill>
                <a:latin typeface="Segoe UI"/>
              </a:rPr>
              <a:t>corr(κ, θE) = −0.96</a:t>
            </a:r>
            <a:r>
              <a:rPr sz="1650" b="0" i="0">
                <a:solidFill>
                  <a:srgbClr val="EAEEF7"/>
                </a:solidFill>
                <a:latin typeface="Segoe UI"/>
              </a:rPr>
              <a:t> — the posterior collapses onto exactly the degeneracy ridge the lens equations predict.</a:t>
            </a:r>
          </a:p>
          <a:p>
            <a:pPr algn="l" marL="205740" indent="-205740">
              <a:lnSpc>
                <a:spcPct val="115000"/>
              </a:lnSpc>
              <a:spcAft>
                <a:spcPts val="14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0">
                <a:solidFill>
                  <a:srgbClr val="EAEEF7"/>
                </a:solidFill>
                <a:latin typeface="Segoe UI"/>
              </a:rPr>
              <a:t>Only θE pays: R² 1.00 → 0.94. Every other parameter is untouched.</a:t>
            </a:r>
          </a:p>
          <a:p>
            <a:pPr algn="l" marL="205740" indent="-205740">
              <a:lnSpc>
                <a:spcPct val="115000"/>
              </a:lnSpc>
              <a:spcAft>
                <a:spcPts val="1400"/>
              </a:spcAft>
              <a:buClr>
                <a:srgbClr val="57C7FF"/>
              </a:buClr>
              <a:buFont typeface="Arial"/>
              <a:buChar char="▸"/>
            </a:pPr>
            <a:r>
              <a:rPr sz="1650" b="0" i="1">
                <a:solidFill>
                  <a:srgbClr val="57C7FF"/>
                </a:solidFill>
                <a:latin typeface="Segoe UI"/>
              </a:rPr>
              <a:t>A calibrated method must refuse to know the unknowable — and it does.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2148840"/>
          <a:ext cx="48463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737360"/>
                <a:gridCol w="1554480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7C7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B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7C7FF"/>
                          </a:solidFill>
                          <a:latin typeface="Segoe UI"/>
                        </a:rPr>
                        <a:t>with κ</a:t>
                      </a:r>
                    </a:p>
                  </a:txBody>
                  <a:tcPr marL="91440" marR="91440" marT="27432" marB="27432" anchor="ctr">
                    <a:solidFill>
                      <a:srgbClr val="1B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7C7FF"/>
                          </a:solidFill>
                          <a:latin typeface="Segoe UI"/>
                        </a:rPr>
                        <a:t>without κ</a:t>
                      </a:r>
                    </a:p>
                  </a:txBody>
                  <a:tcPr marL="91440" marR="91440" marT="27432" marB="27432" anchor="ctr">
                    <a:solidFill>
                      <a:srgbClr val="1B243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AEEF7"/>
                          </a:solidFill>
                          <a:latin typeface="Segoe UI"/>
                        </a:rPr>
                        <a:t>θE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B347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B34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AEEF7"/>
                          </a:solidFill>
                          <a:latin typeface="Segoe UI"/>
                        </a:rPr>
                        <a:t>κ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B347"/>
                          </a:solidFill>
                          <a:latin typeface="Segoe UI"/>
                        </a:rPr>
                        <a:t>0.21  (≈ prior)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B34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AEEF7"/>
                          </a:solidFill>
                          <a:latin typeface="Segoe UI"/>
                        </a:rPr>
                        <a:t>e1 / e2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AEEF7"/>
                          </a:solidFill>
                          <a:latin typeface="Segoe UI"/>
                        </a:rPr>
                        <a:t>0.92 / 0.90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AEEF7"/>
                          </a:solidFill>
                          <a:latin typeface="Segoe UI"/>
                        </a:rPr>
                        <a:t>0.94 / 0.92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AEEF7"/>
                          </a:solidFill>
                          <a:latin typeface="Segoe UI"/>
                        </a:rPr>
                        <a:t>γ1 / γ2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AEEF7"/>
                          </a:solidFill>
                          <a:latin typeface="Segoe UI"/>
                        </a:rPr>
                        <a:t>0.85 / 0.80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AEEF7"/>
                          </a:solidFill>
                          <a:latin typeface="Segoe UI"/>
                        </a:rPr>
                        <a:t>0.86 / 0.80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AEEF7"/>
                          </a:solidFill>
                          <a:latin typeface="Segoe UI"/>
                        </a:rPr>
                        <a:t>xs / ys / Rs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AEEF7"/>
                          </a:solidFill>
                          <a:latin typeface="Segoe UI"/>
                        </a:rPr>
                        <a:t>0.99 / 0.99 / 0.98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AEEF7"/>
                          </a:solidFill>
                          <a:latin typeface="Segoe UI"/>
                        </a:rPr>
                        <a:t>1.00 / 1.00 / 1.00</a:t>
                      </a:r>
                    </a:p>
                  </a:txBody>
                  <a:tcPr marL="91440" marR="91440" marT="27432" marB="27432" anchor="ctr">
                    <a:solidFill>
                      <a:srgbClr val="1218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5440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1050" b="0" i="1">
                <a:solidFill>
                  <a:srgbClr val="9AA5BE"/>
                </a:solidFill>
                <a:latin typeface="Segoe UI"/>
              </a:rPr>
              <a:t>Recovery R² per parameter — 9-parameter (κ) run vs 8-parameter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800">
        <p14:vortex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</a:pPr>
            <a:r>
              <a:rPr sz="1250" b="1" i="0" spc="260">
                <a:solidFill>
                  <a:srgbClr val="57C7FF"/>
                </a:solidFill>
                <a:latin typeface="Segoe UI"/>
              </a:rPr>
              <a:t>WRAP-UP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2900" b="1" i="0">
                <a:solidFill>
                  <a:srgbClr val="FFFFFF"/>
                </a:solidFill>
                <a:latin typeface="Segoe U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777240" cy="33020"/>
          </a:xfrm>
          <a:prstGeom prst="rect">
            <a:avLst/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09728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5740" indent="-205740">
              <a:lnSpc>
                <a:spcPct val="120000"/>
              </a:lnSpc>
              <a:spcAft>
                <a:spcPts val="2000"/>
              </a:spcAft>
              <a:buClr>
                <a:srgbClr val="57C7FF"/>
              </a:buClr>
              <a:buFont typeface="Arial"/>
              <a:buChar char="▸"/>
            </a:pPr>
            <a:r>
              <a:rPr sz="1800" b="0" i="0">
                <a:solidFill>
                  <a:srgbClr val="EAEEF7"/>
                </a:solidFill>
                <a:latin typeface="Segoe UI"/>
              </a:rPr>
              <a:t>End-to-end SBI pipeline: simulate → train → </a:t>
            </a:r>
            <a:r>
              <a:rPr sz="1800" b="1" i="0">
                <a:solidFill>
                  <a:srgbClr val="57C7FF"/>
                </a:solidFill>
                <a:latin typeface="Segoe UI"/>
              </a:rPr>
              <a:t>amortized posteriors in milliseconds per lens</a:t>
            </a:r>
            <a:r>
              <a:rPr sz="1800" b="0" i="0">
                <a:solidFill>
                  <a:srgbClr val="EAEEF7"/>
                </a:solidFill>
                <a:latin typeface="Segoe UI"/>
              </a:rPr>
              <a:t>.</a:t>
            </a:r>
          </a:p>
          <a:p>
            <a:pPr algn="l" marL="205740" indent="-205740">
              <a:lnSpc>
                <a:spcPct val="120000"/>
              </a:lnSpc>
              <a:spcAft>
                <a:spcPts val="2000"/>
              </a:spcAft>
              <a:buClr>
                <a:srgbClr val="57C7FF"/>
              </a:buClr>
              <a:buFont typeface="Arial"/>
              <a:buChar char="▸"/>
            </a:pPr>
            <a:r>
              <a:rPr sz="1800" b="0" i="0">
                <a:solidFill>
                  <a:srgbClr val="EAEEF7"/>
                </a:solidFill>
                <a:latin typeface="Segoe UI"/>
              </a:rPr>
              <a:t>At realistic SNR (median ≈ 16): </a:t>
            </a:r>
            <a:r>
              <a:rPr sz="1800" b="1" i="0">
                <a:solidFill>
                  <a:srgbClr val="FFB347"/>
                </a:solidFill>
                <a:latin typeface="Segoe UI"/>
              </a:rPr>
              <a:t>R² ≥ 0.99</a:t>
            </a:r>
            <a:r>
              <a:rPr sz="1800" b="0" i="0">
                <a:solidFill>
                  <a:srgbClr val="EAEEF7"/>
                </a:solidFill>
                <a:latin typeface="Segoe UI"/>
              </a:rPr>
              <a:t> for Einstein radius, source position and size; 0.80–0.94 for ellipticity and shear.</a:t>
            </a:r>
          </a:p>
          <a:p>
            <a:pPr algn="l" marL="205740" indent="-205740">
              <a:lnSpc>
                <a:spcPct val="120000"/>
              </a:lnSpc>
              <a:spcAft>
                <a:spcPts val="2000"/>
              </a:spcAft>
              <a:buClr>
                <a:srgbClr val="57C7FF"/>
              </a:buClr>
              <a:buFont typeface="Arial"/>
              <a:buChar char="▸"/>
            </a:pPr>
            <a:r>
              <a:rPr sz="1800" b="0" i="0">
                <a:solidFill>
                  <a:srgbClr val="EAEEF7"/>
                </a:solidFill>
                <a:latin typeface="Segoe UI"/>
              </a:rPr>
              <a:t>Uncertainties are honest (calibrated, or mildly conservative for the best-constrained parameters), and the mass-sheet degeneracy emerges exactly where theory demands it.</a:t>
            </a:r>
          </a:p>
          <a:p>
            <a:pPr algn="l" marL="205740" indent="-205740">
              <a:lnSpc>
                <a:spcPct val="120000"/>
              </a:lnSpc>
              <a:spcAft>
                <a:spcPts val="2000"/>
              </a:spcAft>
              <a:buClr>
                <a:srgbClr val="57C7FF"/>
              </a:buClr>
              <a:buFont typeface="Arial"/>
              <a:buChar char="▸"/>
            </a:pPr>
            <a:r>
              <a:rPr sz="1800" b="0" i="0">
                <a:solidFill>
                  <a:srgbClr val="EAEEF7"/>
                </a:solidFill>
                <a:latin typeface="Segoe UI"/>
              </a:rPr>
              <a:t>GPU acceleration makes iteration feasible: a full 50,000-sample retrain takes ~2 hours on a single RTX 3060.</a:t>
            </a:r>
          </a:p>
          <a:p>
            <a:pPr algn="l" marL="205740" indent="-205740">
              <a:lnSpc>
                <a:spcPct val="120000"/>
              </a:lnSpc>
              <a:spcAft>
                <a:spcPts val="2000"/>
              </a:spcAft>
              <a:buClr>
                <a:srgbClr val="57C7FF"/>
              </a:buClr>
              <a:buFont typeface="Arial"/>
              <a:buChar char="▸"/>
            </a:pPr>
            <a:r>
              <a:rPr sz="1800" b="0" i="0">
                <a:solidFill>
                  <a:srgbClr val="EAEEF7"/>
                </a:solidFill>
                <a:latin typeface="Segoe UI"/>
              </a:rPr>
              <a:t>Next steps: a larger network (the remaining conservatism is capacity-limited, not data-limited), more complex sources, and real survey cutouts (Euclid, Rubin-LSST) — where amortized inference is the only way to keep up with the expected ~100,000 new lenses.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il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855750"/>
            <a:ext cx="4937760" cy="487218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6675120" y="58064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1050" b="0" i="1">
                <a:solidFill>
                  <a:srgbClr val="9AA5BE"/>
                </a:solidFill>
                <a:latin typeface="Segoe UI"/>
              </a:rPr>
              <a:t>SDSS J1038+4849 — even the Universe approves.  (NASA &amp; ESA/Hubble)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  <a:buNone/>
            </a:pPr>
            <a:r>
              <a:rPr sz="1300" b="1" i="0" spc="300">
                <a:solidFill>
                  <a:srgbClr val="57C7FF"/>
                </a:solidFill>
                <a:latin typeface="Segoe UI"/>
              </a:rPr>
              <a:t>THANK YOU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l">
              <a:lnSpc>
                <a:spcPct val="106000"/>
              </a:lnSpc>
              <a:spcAft>
                <a:spcPts val="2200"/>
              </a:spcAft>
              <a:buNone/>
            </a:pPr>
            <a:r>
              <a:rPr sz="1400" b="0" i="0">
                <a:solidFill>
                  <a:srgbClr val="EAEEF7"/>
                </a:solidFill>
                <a:latin typeface="Segoe UI"/>
              </a:rPr>
              <a:t>Sayed Atique Newaz  ·  Noureen Alam Meem  ·  Mashuk Khan</a:t>
            </a:r>
          </a:p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9AA5BE"/>
                </a:solidFill>
                <a:latin typeface="Segoe UI"/>
              </a:rPr>
              <a:t>Software: lenstronomy · BayesFlow · PyTorch · NumPy · Matplotlib
Hubble imagery: NASA, ESA/Hubble (CC BY 4.0)
Full write-up: report/report.pdf · results log: RESULTS.md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9AA5BE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8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